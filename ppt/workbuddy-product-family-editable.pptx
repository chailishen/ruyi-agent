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c3ceb002714fc1" /><Relationship Type="http://schemas.openxmlformats.org/officeDocument/2006/relationships/extended-properties" Target="/docProps/app.xml" Id="Rf0ce6be3782946e9" /><Relationship Type="http://schemas.openxmlformats.org/officeDocument/2006/relationships/officeDocument" Target="/ppt/presentation.xml" Id="Re4a91e46558a44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cfe99087fb48b9"/>
  </p:sldMasterIdLst>
  <p:notesMasterIdLst>
    <p:notesMasterId xmlns:r="http://schemas.openxmlformats.org/officeDocument/2006/relationships" r:id="R4348403c672a4386"/>
  </p:notesMasterIdLst>
  <p:sldIdLst>
    <p:sldId xmlns:r="http://schemas.openxmlformats.org/officeDocument/2006/relationships" id="256" r:id="R75f2697c5d654d0f"/>
    <p:sldId xmlns:r="http://schemas.openxmlformats.org/officeDocument/2006/relationships" id="257" r:id="R47d2d3263dc947ce"/>
    <p:sldId xmlns:r="http://schemas.openxmlformats.org/officeDocument/2006/relationships" id="258" r:id="R5dc1a653de404eed"/>
    <p:sldId xmlns:r="http://schemas.openxmlformats.org/officeDocument/2006/relationships" id="259" r:id="Rc99bbf83a197458a"/>
    <p:sldId xmlns:r="http://schemas.openxmlformats.org/officeDocument/2006/relationships" id="260" r:id="R1316570f700743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5634dd8632443b" /><Relationship Type="http://schemas.openxmlformats.org/officeDocument/2006/relationships/slideMaster" Target="/ppt/slideMasters/slideMaster1.xml" Id="R6dcfe99087fb48b9" /><Relationship Type="http://schemas.openxmlformats.org/officeDocument/2006/relationships/notesMaster" Target="/ppt/notesMasters/notesMaster1.xml" Id="R4348403c672a4386" /><Relationship Type="http://schemas.openxmlformats.org/officeDocument/2006/relationships/presProps" Target="/ppt/presProps.xml" Id="R7ddef1f5bd32473e" /><Relationship Type="http://schemas.openxmlformats.org/officeDocument/2006/relationships/viewProps" Target="/ppt/viewProps.xml" Id="R0e9113413aaf447a" /><Relationship Type="http://schemas.openxmlformats.org/officeDocument/2006/relationships/tableStyles" Target="/ppt/tableStyles.xml" Id="Rc115f56021d04028" /><Relationship Type="http://schemas.openxmlformats.org/officeDocument/2006/relationships/slide" Target="/ppt/slides/slide1.xml" Id="R75f2697c5d654d0f" /><Relationship Type="http://schemas.openxmlformats.org/officeDocument/2006/relationships/slide" Target="/ppt/slides/slide2.xml" Id="R47d2d3263dc947ce" /><Relationship Type="http://schemas.openxmlformats.org/officeDocument/2006/relationships/slide" Target="/ppt/slides/slide3.xml" Id="R5dc1a653de404eed" /><Relationship Type="http://schemas.openxmlformats.org/officeDocument/2006/relationships/slide" Target="/ppt/slides/slide4.xml" Id="Rc99bbf83a197458a" /><Relationship Type="http://schemas.openxmlformats.org/officeDocument/2006/relationships/slide" Target="/ppt/slides/slide5.xml" Id="R1316570f700743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f5ed79d0d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7c87335c53481c" /><Relationship Type="http://schemas.openxmlformats.org/officeDocument/2006/relationships/notesMaster" Target="/ppt/notesMasters/notesMaster1.xml" Id="Rbd79123108c34b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a64a55dfdd4078" /><Relationship Type="http://schemas.openxmlformats.org/officeDocument/2006/relationships/notesMaster" Target="/ppt/notesMasters/notesMaster1.xml" Id="Re15d0e0d3b7043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b8d0bdfd084e07" /><Relationship Type="http://schemas.openxmlformats.org/officeDocument/2006/relationships/notesMaster" Target="/ppt/notesMasters/notesMaster1.xml" Id="Rad6831fb736e4e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7c898b2124a6a" /><Relationship Type="http://schemas.openxmlformats.org/officeDocument/2006/relationships/notesMaster" Target="/ppt/notesMasters/notesMaster1.xml" Id="Rbceda34b86ee45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4e735f7f1f49c9" /><Relationship Type="http://schemas.openxmlformats.org/officeDocument/2006/relationships/notesMaster" Target="/ppt/notesMasters/notesMaster1.xml" Id="R10be83baa84b4b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67e10bb9548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c7c185493242a9" /><Relationship Type="http://schemas.openxmlformats.org/officeDocument/2006/relationships/slideLayout" Target="/ppt/slideLayouts/slideLayout1.xml" Id="Ra51f7e907f144d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1f7e907f144d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191c7daec4128" /><Relationship Type="http://schemas.openxmlformats.org/officeDocument/2006/relationships/image" Target="/ppt/media/image.png" Id="Rbd054aa9493a494e" /><Relationship Type="http://schemas.openxmlformats.org/officeDocument/2006/relationships/image" Target="/ppt/media/image.svg" Id="R296f4806aef243ab" /><Relationship Type="http://schemas.openxmlformats.org/officeDocument/2006/relationships/image" Target="/ppt/media/image2.png" Id="Rd6c75282873e4961" /><Relationship Type="http://schemas.openxmlformats.org/officeDocument/2006/relationships/image" Target="/ppt/media/image2.svg" Id="Rc8358079b1974635" /><Relationship Type="http://schemas.openxmlformats.org/officeDocument/2006/relationships/image" Target="/ppt/media/image3.png" Id="R2e40913a417f401e" /><Relationship Type="http://schemas.openxmlformats.org/officeDocument/2006/relationships/image" Target="/ppt/media/image3.svg" Id="R84d3f95d5ea148d5" /><Relationship Type="http://schemas.openxmlformats.org/officeDocument/2006/relationships/image" Target="/ppt/media/image4.png" Id="R090f0cc436b34c5c" /><Relationship Type="http://schemas.openxmlformats.org/officeDocument/2006/relationships/image" Target="/ppt/media/image4.svg" Id="R04b44a2c94c54a0e" /><Relationship Type="http://schemas.openxmlformats.org/officeDocument/2006/relationships/notesSlide" Target="/ppt/notesSlides/notesSlide1.xml" Id="R6e578d950bd941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488dd26984963" /><Relationship Type="http://schemas.openxmlformats.org/officeDocument/2006/relationships/image" Target="/ppt/media/image5.png" Id="Rf23cde140dff490a" /><Relationship Type="http://schemas.openxmlformats.org/officeDocument/2006/relationships/image" Target="/ppt/media/image5.svg" Id="Rd1fcf318fc7d4c65" /><Relationship Type="http://schemas.openxmlformats.org/officeDocument/2006/relationships/image" Target="/ppt/media/image6.png" Id="Rb0f255f6199e44ca" /><Relationship Type="http://schemas.openxmlformats.org/officeDocument/2006/relationships/image" Target="/ppt/media/image6.svg" Id="R3d67a3d90b0944aa" /><Relationship Type="http://schemas.openxmlformats.org/officeDocument/2006/relationships/notesSlide" Target="/ppt/notesSlides/notesSlide2.xml" Id="R8de0ccddf3fc45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16dde146545b9" /><Relationship Type="http://schemas.openxmlformats.org/officeDocument/2006/relationships/notesSlide" Target="/ppt/notesSlides/notesSlide3.xml" Id="Ra180ce9102f24c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def75c89d437c" /><Relationship Type="http://schemas.openxmlformats.org/officeDocument/2006/relationships/image" Target="/ppt/media/image7.png" Id="R1a148a14fe9e4f72" /><Relationship Type="http://schemas.openxmlformats.org/officeDocument/2006/relationships/image" Target="/ppt/media/image7.svg" Id="R4d2bc0e38e7c43b6" /><Relationship Type="http://schemas.openxmlformats.org/officeDocument/2006/relationships/image" Target="/ppt/media/image8.png" Id="R46b3934a993f4b2e" /><Relationship Type="http://schemas.openxmlformats.org/officeDocument/2006/relationships/image" Target="/ppt/media/image8.svg" Id="R8ef724f77321499a" /><Relationship Type="http://schemas.openxmlformats.org/officeDocument/2006/relationships/image" Target="/ppt/media/image9.png" Id="R4810075dc7914336" /><Relationship Type="http://schemas.openxmlformats.org/officeDocument/2006/relationships/image" Target="/ppt/media/image9.svg" Id="R3df5948f770a4e2e" /><Relationship Type="http://schemas.openxmlformats.org/officeDocument/2006/relationships/notesSlide" Target="/ppt/notesSlides/notesSlide4.xml" Id="R4bd348f832ba4d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434b9ee5a4272" /><Relationship Type="http://schemas.openxmlformats.org/officeDocument/2006/relationships/image" Target="/ppt/media/image10.png" Id="R944448a065624f6a" /><Relationship Type="http://schemas.openxmlformats.org/officeDocument/2006/relationships/image" Target="/ppt/media/image11.png" Id="Rb262d30c54ac44b2" /><Relationship Type="http://schemas.openxmlformats.org/officeDocument/2006/relationships/image" Target="/ppt/media/image12.png" Id="R20ffbf985ebe42a5" /><Relationship Type="http://schemas.openxmlformats.org/officeDocument/2006/relationships/notesSlide" Target="/ppt/notesSlides/notesSlide5.xml" Id="R977cda0cd6aa4b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03FF1-BC85-47B9-9A87-88DAD633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6FFFD"/>
              </a:gs>
              <a:gs pos="55000">
                <a:srgbClr val="ECFEFA"/>
              </a:gs>
              <a:gs pos="100000">
                <a:srgbClr val="D7FAF4"/>
              </a:gs>
            </a:gsLst>
            <a:lin ang="1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BFF59-AB0E-4461-890D-8CC589F1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5191125"/>
            <a:ext cx="49530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9D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F2DFA-5D72-4B06-9466-566A1C58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047750"/>
            <a:ext cx="32385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EFE6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745E9-0F65-4113-9A5D-A1B3F35D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76900"/>
            <a:ext cx="4191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4E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6E8F2-9302-4979-81AC-B22D55EB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AF5AD-4497-4760-B8E7-3D9655D3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D5751-F8B2-485C-B6B8-1752BFF2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4B4F5-72EA-4ABD-AB65-87FAA020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F49F3-5A41-493D-9DFC-C10670B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32A0C-DF52-427C-94F0-46B0AB64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0A616-5322-4C26-8AA0-F591AC11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DD0C3-A8F8-4607-A35B-75CFD0DF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C3D6E-08CD-45A1-A1DA-FD7488CB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142BE-C013-4D7F-926B-30659EB7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3278F-26D4-48F6-9B60-5E54C9F7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5120C-309E-47E6-8C1F-40CC261D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5D99F-FEBD-4FBD-B76A-603874B0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C8B5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C8B5"/>
                </a:solidFill>
                <a:latin typeface="PingFang SC"/>
                <a:ea typeface="PingFang SC"/>
                <a:cs typeface="PingFang SC"/>
              </a:rPr>
              <a:t>WorkBuddy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20E30-2209-4D13-9582-DC8B4409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0287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企业版及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600A4-C764-45EB-9C7B-FDBB365C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7C8B5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17C8B5"/>
                </a:solidFill>
                <a:latin typeface="PingFang SC"/>
                <a:ea typeface="PingFang SC"/>
                <a:cs typeface="PingFang SC"/>
              </a:rPr>
              <a:t>Buddy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AAB7F-F317-4378-A6F5-7EBD52C9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产品家族全景图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878BC-2C81-4481-BB2D-394F1AE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348" y="1734503"/>
            <a:ext cx="2300288" cy="3400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D6C6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4F2132-83A0-4EB8-8AE5-48FBA742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8334375" y="914400"/>
            <a:ext cx="1800225" cy="1180148"/>
          </a:xfrm>
          <a:prstGeom xmlns:a="http://schemas.openxmlformats.org/drawingml/2006/main" prst="roundRect">
            <a:avLst>
              <a:gd name="adj" fmla="val 6457"/>
            </a:avLst>
          </a:prstGeom>
          <a:gradFill xmlns:a="http://schemas.openxmlformats.org/drawingml/2006/main">
            <a:gsLst>
              <a:gs pos="0">
                <a:srgbClr val="58E8D4"/>
              </a:gs>
              <a:gs pos="100000">
                <a:srgbClr val="09BFAE"/>
              </a:gs>
            </a:gsLst>
            <a:lin ang="2100000"/>
          </a:gradFill>
          <a:ln xmlns:a="http://schemas.openxmlformats.org/drawingml/2006/main" w="9525">
            <a:solidFill>
              <a:srgbClr val="8EF5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A22C7-3434-4407-B343-D1F56C36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8784431" y="1314450"/>
            <a:ext cx="220028" cy="460058"/>
          </a:xfrm>
          <a:prstGeom xmlns:a="http://schemas.openxmlformats.org/drawingml/2006/main" prst="roundRect">
            <a:avLst>
              <a:gd name="adj" fmla="val 34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69F50C-CF20-4ACB-8807-004636ED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9464516" y="1154430"/>
            <a:ext cx="220028" cy="460058"/>
          </a:xfrm>
          <a:prstGeom xmlns:a="http://schemas.openxmlformats.org/drawingml/2006/main" prst="roundRect">
            <a:avLst>
              <a:gd name="adj" fmla="val 34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57316-8A9E-415B-9C0E-BE4BB7C3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33700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21F907-38DC-40CB-ACD4-AAFB746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33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企业 AI 工作台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C6505-E48D-4E86-83E1-77474D4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BA2BE-41CE-46DB-B7E2-9864BD4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智能体与数字员工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5E732-9830-4BB4-8F9D-AD233832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33700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FE29B6-3A95-448C-B731-BA4AD374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33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Buddy 产品图谱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05AFF5-E090-48AC-8A85-CFCE8884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E1578-4D09-4DB6-A489-288BB958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AI 共创生态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FFEEAD-0ED0-405E-A1EB-189C1B32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9525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>
              <a:alpha val="72941"/>
            </a:srgbClr>
          </a:solidFill>
          <a:ln xmlns:a="http://schemas.openxmlformats.org/drawingml/2006/main" w="11430">
            <a:solidFill>
              <a:srgbClr val="A5E4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226A61-7DC2-4EDF-B2A6-CB5D8343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BF6"/>
          </a:solidFill>
          <a:ln xmlns:a="http://schemas.openxmlformats.org/drawingml/2006/main" w="9525">
            <a:solidFill>
              <a:srgbClr val="B4EC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32031C-F1A5-466F-AD5C-C9B1A628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57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智能体套件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25AC60-7CF9-4D1A-AE68-E8B43CEE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62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腾讯文档 / 腾讯网盘 / 腾讯乐享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5FF808-8EC1-4B9A-8F5B-627FCC08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BF6"/>
          </a:solidFill>
          <a:ln xmlns:a="http://schemas.openxmlformats.org/drawingml/2006/main" w="9525">
            <a:solidFill>
              <a:srgbClr val="B4EC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3EC122-07E5-49B8-A8C2-EA60FBD6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057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垂类智能体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8CEE1C-4CB9-4846-8004-6A51D4CF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362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CodeBuddy / Ardot / Miora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07CF9C-1689-4714-8489-E7A6AE91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BF6"/>
          </a:solidFill>
          <a:ln xmlns:a="http://schemas.openxmlformats.org/drawingml/2006/main" w="9525">
            <a:solidFill>
              <a:srgbClr val="B4EC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22BC5E-C33F-4F52-8EF2-664FF599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企业 AI 资产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88FC82-220A-4CAD-810E-EE4E038C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企业知识 / 技能套件 / 专家经验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583436-7946-4C21-A1A9-FDBB3410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43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BF6"/>
          </a:solidFill>
          <a:ln xmlns:a="http://schemas.openxmlformats.org/drawingml/2006/main" w="9525">
            <a:solidFill>
              <a:srgbClr val="B4ECE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4B3057-E9C1-4636-98DC-552E78EE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57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企业管理平台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423653-C173-4634-9F10-FFC03983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Agent 治理可见、可控、可管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C8EAC8-4EBF-4DFF-8E4A-411D15B8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619750"/>
            <a:ext cx="381000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E5DD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CF1B45-0E11-40FE-83F0-DDADB607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34000"/>
            <a:ext cx="3009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11430">
            <a:solidFill>
              <a:srgbClr val="B7EC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43595B-B4F1-4D7E-901E-5CD7C5E5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483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WorkBuddy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0E8554-90D4-4137-B2AB-142B2394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29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AI 能力与智能体底座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634E5A-7325-45E3-BB22-98BA8CB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9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9D9A"/>
                </a:solidFill>
                <a:latin typeface="PingFang SC"/>
                <a:ea typeface="PingFang SC"/>
                <a:cs typeface="PingFang SC"/>
              </a:rPr>
              <a:t>WorkBuddy 产品家族全景图  |  1/5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54aa9493a494e">
            <a:extLst>
              <a:ext uri="{96DAC541-7B7A-43D3-8B79-37D633B846F1}">
                <asvg:svgBlip xmlns:asvg="http://schemas.microsoft.com/office/drawing/2016/SVG/main" r:embed="R296f4806aef243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3678" y="4253103"/>
            <a:ext cx="237744" cy="237744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75282873e4961">
            <a:extLst>
              <a:ext uri="{96DAC541-7B7A-43D3-8B79-37D633B846F1}">
                <asvg:svgBlip xmlns:asvg="http://schemas.microsoft.com/office/drawing/2016/SVG/main" r:embed="Rc8358079b19746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72053" y="4253103"/>
            <a:ext cx="237744" cy="237744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0913a417f401e">
            <a:extLst>
              <a:ext uri="{96DAC541-7B7A-43D3-8B79-37D633B846F1}">
                <asvg:svgBlip xmlns:asvg="http://schemas.microsoft.com/office/drawing/2016/SVG/main" r:embed="R84d3f95d5ea148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0428" y="4253103"/>
            <a:ext cx="237744" cy="237744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f0cc436b34c5c">
            <a:extLst>
              <a:ext uri="{96DAC541-7B7A-43D3-8B79-37D633B846F1}">
                <asvg:svgBlip xmlns:asvg="http://schemas.microsoft.com/office/drawing/2016/SVG/main" r:embed="R04b44a2c94c54a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48803" y="4253103"/>
            <a:ext cx="237744" cy="2377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069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845EE1-7513-411A-A7AC-0ECFADAB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6FFFD"/>
              </a:gs>
              <a:gs pos="55000">
                <a:srgbClr val="ECFEFA"/>
              </a:gs>
              <a:gs pos="100000">
                <a:srgbClr val="D7FAF4"/>
              </a:gs>
            </a:gsLst>
            <a:lin ang="1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8D317-24BC-4DDA-8A46-0383EC9A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5191125"/>
            <a:ext cx="49530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9D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E8D24-C6A8-4483-A90C-815DF2A6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047750"/>
            <a:ext cx="32385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EFE6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B91BE-F23D-4D86-BC21-3F958345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76900"/>
            <a:ext cx="4191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4E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FB6C8-ED39-4E85-B63D-5CAF754D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86FE9-CFE8-498F-A40C-B7BDC06B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11354-3D34-4F5A-B482-16FED017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75F04-25A3-4A5C-B254-916246A2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84440-739C-44DD-ABD3-F079EC7E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FB57E-4232-4974-A91D-546CD38E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25944-D2BC-4A0A-A942-38DE012E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87186-BE81-40A7-91C6-4CBC686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23381-0625-4C27-84AF-B926189B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76F96-A091-455A-B71A-A334352D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3786A-5622-44B1-BFEE-52B3B884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681B5-AC9C-47C2-8F18-D06AB55E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1AFA7-24C6-4D35-83B4-49B93F07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19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WorkBuddy 企业 AI 工作台架构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CF540-F948-4635-A142-894690E1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从智能体套件到数字员工，再到企业级资产与治理平台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A1E57-AE89-4955-8EB3-48CF351C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C8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5C066-507A-4F07-95FC-9F542797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24000"/>
            <a:ext cx="1657350" cy="32004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A5E4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CE111-64B2-4415-8FB5-8EB1035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智能体套件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B6D7C-C7EA-4058-839C-AF1A4F6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CF629-92D2-449B-8951-FFD09CE6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腾讯文档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BDE21-174E-4ACA-BA6B-2C91560E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13546-D732-4ABE-97BA-1E9AC359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腾讯网盘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0F0AAC-B4E4-4B1A-AE01-5E833CB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4075C-F3DA-467E-8191-E8F9BBD6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腾讯乐享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E86DE4-04CA-4BD7-B770-1415C7CC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487720-4750-4F17-A9F4-4B12DA38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研发智能体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CDE3FB-6E99-4F31-95E2-6EA4ADEE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CodeBuddy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46616-B6E3-4AD1-A032-67D62E81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DD3AE-D0B3-4261-8991-3505E2E9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设计智能体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1CF7C-1FA3-4222-9F51-2540B902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Ardot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72DA4D-4475-4FFF-94C8-AB767D67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28D766-97EE-41D5-AADD-C61F2DF9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创意智能体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408C70-7EB7-427A-8ABE-A157E301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Miora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AE8A21-44CC-4E32-8F11-D63CA6D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524000"/>
            <a:ext cx="1657350" cy="32004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A5E4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ABFF33-B362-49EA-AE37-2DC9A8C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6954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企业 AI 资产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C61D58-5862-40BE-9DD5-9A28CC47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145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9710C3-FAB6-415D-B818-D6B7D646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145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企业知识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1BA2BE-F2C6-40E3-866B-0C704FEA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622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组织记忆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D2E4A0-39A7-41B9-B2ED-F8E5423F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B73E92-A60F-44D1-AF5F-F033A5D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Skills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0FB922-574F-45E4-B88A-D49A080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194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技能封装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F9008B-D4F5-4D7C-9A63-C170CC8A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A516C8-0F0F-401B-B957-6491AD7F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专家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EC3C79-EADE-459E-9423-5AEDAA7B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经验沉淀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4B52FC-730A-4C86-A388-8D35E4CB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861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6F8B53-A8AE-4E72-AFF8-33077CD6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861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连接器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156A1A-5A95-4608-A8FA-E768858C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338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系统接入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A35C01-C8CC-41DC-973C-0C8B097C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12001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6ED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9B42AD-16B5-4F73-8ADE-64B44F9B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1200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大模型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6FF0F4-A52C-4622-8781-A0B20F38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910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模型能力底座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C4F657-524C-461E-A2BF-E8C8F72A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28750"/>
            <a:ext cx="63436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1430">
            <a:solidFill>
              <a:srgbClr val="A5E4D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44CC0D-B736-46BE-B6DA-0CF2754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519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7D95B9-AEA7-49C6-A63B-9983576C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519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WorkBuddy · 企业 AI 工作台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BE0BFA-84A8-4685-83F8-373EE79B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FFD"/>
          </a:solidFill>
          <a:ln xmlns:a="http://schemas.openxmlformats.org/drawingml/2006/main" w="11430">
            <a:solidFill>
              <a:srgbClr val="A5E4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5D33B7-CC55-4FBE-8B98-D6EFA2A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FFD"/>
          </a:solidFill>
          <a:ln xmlns:a="http://schemas.openxmlformats.org/drawingml/2006/main" w="11430">
            <a:solidFill>
              <a:srgbClr val="A5E4D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2194B1-36BF-4EE4-8C4D-E8F87967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BF6"/>
          </a:solidFill>
          <a:ln xmlns:a="http://schemas.openxmlformats.org/drawingml/2006/main" w="9525">
            <a:solidFill>
              <a:srgbClr val="B4ECE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A1C1EA-3004-41F8-A596-20727137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BF6"/>
          </a:solidFill>
          <a:ln xmlns:a="http://schemas.openxmlformats.org/drawingml/2006/main" w="9525">
            <a:solidFill>
              <a:srgbClr val="B4ECE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038C7C-06BC-4FFD-8EC4-CBE1EAFC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超级个体（个人提效）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6F57FB-99DE-4357-B9F2-0D1838A4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发挥 WorkBuddy 办公应用能力</a:t>
            </a:r>
          </a:p>
          <a:p xmlns:a="http://schemas.openxmlformats.org/drawingml/2006/main">
            <a:pPr algn="l">
              <a:defRPr sz="825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完成任务与知识沉淀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52CC9D-0E73-494F-97D0-963DD797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超级团队（组织提效）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22F92B-4669-4A8B-B69F-0D8AAEF2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432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通过一组智能体协同员工</a:t>
            </a:r>
          </a:p>
          <a:p xmlns:a="http://schemas.openxmlformats.org/drawingml/2006/main">
            <a:pPr algn="l">
              <a:defRPr sz="825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完成跨职能任务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2B448C-F74D-47D3-A8B2-291C980A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7EA0F3-191E-4F6A-986D-5A5DC684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00750" y="2714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BE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27E474-8052-4843-A9BE-4943D31C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90900"/>
            <a:ext cx="3638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17C8B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C16D3A-56ED-462C-98A3-BC5886AB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3467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数字员工可由人或组织指挥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373795-AE62-43FB-A10C-92B906D1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4667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9B24B4-2612-420D-9BC2-382BE18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466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智能体创建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49DC0F-C1A8-4CCE-A82A-205122C6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10100"/>
            <a:ext cx="5562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FFE"/>
          </a:solidFill>
          <a:ln xmlns:a="http://schemas.openxmlformats.org/drawingml/2006/main" w="11430">
            <a:solidFill>
              <a:srgbClr val="A5E4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CD10D7-7F27-4825-9F30-C3BC155A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0535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7*24 小时在线的数字员工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117760-871C-45A6-854D-7F5F8202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101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专家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370D94-EE8A-49C6-A85A-F2431A3A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1009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4ED607D-6AAF-411F-8149-FB11EDBA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前端开发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E0B5E6F-BE04-489B-86F9-22B0AF23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91100"/>
            <a:ext cx="1009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C6A6046-D770-4CCD-A991-ACA934BD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911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项目经理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97EA1C0-C6F8-4874-90DF-0B7C39C3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1009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E498177-8804-4676-8F40-DB639FC1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911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营销顾问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C1821AC-F162-48EA-8951-1DC3C73D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1009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C0F34E-E7F5-4023-833F-C7778A0C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9110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招聘经理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F6A880-B8F2-44DD-ACBC-86BF96B5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专家团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287B090-13D9-4FEA-ABA9-DCB781FE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2573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FAFF760-279E-4B3C-AA69-84458FA0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一人公司（OPC）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0527BAC-4CCB-4171-A910-60C5330C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9700"/>
            <a:ext cx="12573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2DFF3C3-491E-4332-99E9-1D30D9B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9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软件开发团队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0A4A67-1C76-4B53-B6E7-4946E8AD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12573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0B44EE8-4824-4AC6-A429-4A2C6EBC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内容创作团队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94D90FC-3070-4AA6-AD4D-101F0B22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363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5FB29F3-4272-472B-A6F5-AA64EBC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363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智能体与资产治理 · WorkBuddy 企业管理平台（Agent 治理可见、可控、可管）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E18C984-FE43-4C90-8680-BA6DD097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9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9D9A"/>
                </a:solidFill>
                <a:latin typeface="PingFang SC"/>
                <a:ea typeface="PingFang SC"/>
                <a:cs typeface="PingFang SC"/>
              </a:rPr>
              <a:t>WorkBuddy 产品家族全景图  |  2/5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cde140dff490a">
            <a:extLst>
              <a:ext uri="{96DAC541-7B7A-43D3-8B79-37D633B846F1}">
                <asvg:svgBlip xmlns:asvg="http://schemas.microsoft.com/office/drawing/2016/SVG/main" r:embed="Rd1fcf318fc7d4c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57956" y="2676906"/>
            <a:ext cx="227838" cy="227838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255f6199e44ca">
            <a:extLst>
              <a:ext uri="{96DAC541-7B7A-43D3-8B79-37D633B846F1}">
                <asvg:svgBlip xmlns:asvg="http://schemas.microsoft.com/office/drawing/2016/SVG/main" r:embed="R3d67a3d90b0944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44056" y="2676906"/>
            <a:ext cx="227838" cy="2278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043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FC114E-C7EB-4DFE-BF65-9606E9B9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6FFFD"/>
              </a:gs>
              <a:gs pos="55000">
                <a:srgbClr val="ECFEFA"/>
              </a:gs>
              <a:gs pos="100000">
                <a:srgbClr val="D7FAF4"/>
              </a:gs>
            </a:gsLst>
            <a:lin ang="1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D79D8-EC04-4890-8E88-BA0995D3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5191125"/>
            <a:ext cx="49530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9D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208A1-9B94-434D-A788-04E5BEA1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047750"/>
            <a:ext cx="32385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EFE6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19825-B2BB-4514-807E-65217AE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76900"/>
            <a:ext cx="4191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4E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76923-8D57-48C0-A9FF-29D5D828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42E94-2A15-4E30-815B-EC129209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D0B22-F5B0-4720-ACE1-070D4BCD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785DD-9261-426C-8689-DC4DD14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61E51-F5C3-41E1-A32F-8D2E90E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E8CBD-6AB1-4BA5-85F3-D686E939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A0BD9-B41C-40C8-B4C2-D09C4B00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B93AA-0CD0-40D3-AE36-1D9EB558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69109-9D3B-480D-BDA5-959D32E8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9CD8D-9E17-452E-8428-D4E8ED81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D4D13-95B2-4A4D-90AF-CC4AD842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BD11F-F654-49C4-8AA5-D7A3103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BE474-6C57-4BCE-AB1B-C18CDCB1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腾讯效率智能体 “Buddy” 家族产品图谱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7684A-8B95-453B-8D91-C6549EC6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81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B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8ED0B-FDC2-40BB-AC5A-52A33F63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81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B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816B1-11C7-4DE7-88B7-97846660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66775"/>
            <a:ext cx="64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C3981-6A18-4B37-ABD8-5E16404E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66775"/>
            <a:ext cx="647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9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72303-137A-47EE-BF19-4EE972DD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11430">
            <a:solidFill>
              <a:srgbClr val="A7E7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77AE5-46FF-48A7-9571-77B2210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019550" cy="552450"/>
          </a:xfrm>
          <a:prstGeom xmlns:a="http://schemas.openxmlformats.org/drawingml/2006/main" prst="roundRect">
            <a:avLst>
              <a:gd name="adj" fmla="val 13793"/>
            </a:avLst>
          </a:prstGeom>
          <a:gradFill xmlns:a="http://schemas.openxmlformats.org/drawingml/2006/main">
            <a:gsLst>
              <a:gs pos="0">
                <a:srgbClr val="19C7BA"/>
              </a:gs>
              <a:gs pos="100000">
                <a:srgbClr val="26C9BA"/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C69DB-EA48-47DB-882F-FDFADAB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智能体名称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203C3-78DC-42D9-AF3B-DE58A2C3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28750"/>
            <a:ext cx="2828925" cy="552450"/>
          </a:xfrm>
          <a:prstGeom xmlns:a="http://schemas.openxmlformats.org/drawingml/2006/main" prst="roundRect">
            <a:avLst>
              <a:gd name="adj" fmla="val 13793"/>
            </a:avLst>
          </a:prstGeom>
          <a:gradFill xmlns:a="http://schemas.openxmlformats.org/drawingml/2006/main">
            <a:gsLst>
              <a:gs pos="0">
                <a:srgbClr val="19C7BA"/>
              </a:gs>
              <a:gs pos="100000">
                <a:srgbClr val="22C6BA"/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47EB6-7809-4163-B789-9E329430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04950"/>
            <a:ext cx="2828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主要场景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F18515-4371-4B38-838F-70C55AE0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428750"/>
            <a:ext cx="3514725" cy="552450"/>
          </a:xfrm>
          <a:prstGeom xmlns:a="http://schemas.openxmlformats.org/drawingml/2006/main" prst="roundRect">
            <a:avLst>
              <a:gd name="adj" fmla="val 13793"/>
            </a:avLst>
          </a:prstGeom>
          <a:gradFill xmlns:a="http://schemas.openxmlformats.org/drawingml/2006/main">
            <a:gsLst>
              <a:gs pos="0">
                <a:srgbClr val="3FBEF2"/>
              </a:gs>
              <a:gs pos="100000">
                <a:srgbClr val="6E91F0"/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117999-FA3A-4398-A17B-FEF503D5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04950"/>
            <a:ext cx="3514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适用人群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BF8DB-3A09-4240-A8F6-DCE4F0C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059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D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215E0D-8BE5-4C22-8D3C-86CE49E3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3C8BD3-FB06-4570-B258-F7DCBA25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3676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WorkBuddy通用智能体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AF3FBA-F770-4CCB-B275-79219BB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57400"/>
            <a:ext cx="2486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办公学习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433EAE-3222-4CC8-A49A-216667B9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057400"/>
            <a:ext cx="31718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办公人群、学生、OPC等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EEC459-E9FD-48BD-B5E3-81DC3485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7C5A10-D353-44A1-AB6B-E07C2890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3676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WorkBuddy企业版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F19001-4D09-49C8-AEC1-8FF5BDC2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2486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企业组织提效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FD9BCC-12CD-4426-84CC-88749E7E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24150"/>
            <a:ext cx="31718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企业管理员及员工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EC20B1-1A1D-4EE9-9003-D4BF2613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059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D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B37D15-D31E-4401-BBA2-311EBDCB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E8C709-8D6D-44B3-8CE7-29C85DCC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3676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WorkBuddy国际版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27BE16-1AB8-4EBF-B29E-C0A61F5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90900"/>
            <a:ext cx="2486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面向全球用户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67F086-2AD6-4152-9887-65FD213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390900"/>
            <a:ext cx="31718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职场及办公提效人群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47B979-2CEC-418E-8CFF-939A391B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F074F3-5082-4303-96BD-2152D35F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3676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CodeBuddy编码智能体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C3C0BC-0BF9-486A-9AC0-0F07D616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57650"/>
            <a:ext cx="2486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开发与运维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329889-6C71-41CF-A8D8-9A7D91C2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057650"/>
            <a:ext cx="31718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程序员或独立开发者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1920EB-9751-4A9D-ACED-03436671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59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D">
              <a:alpha val="6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481B25-B2FD-4B50-9509-396BB593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57751D-C991-4211-BB68-88C2D10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3676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Miora创意智能体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DFDD4A-4DC2-4E65-A2A6-BA6385EA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24400"/>
            <a:ext cx="2486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创意内容生产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7684ED-5219-48BD-BFA5-E23E586F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724400"/>
            <a:ext cx="31718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平面、视频与3D等创意资产创作者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E25E49-BAE7-4D34-91A2-3DF68BE2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646A81-5ABE-4AA1-AFF6-A7E56B31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3676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Ardot交互设计智能体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67F73F-2FEB-463A-8723-E3D92A37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91150"/>
            <a:ext cx="2486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专业交互设计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983088-0B94-4DCA-88BD-29FE3AF7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391150"/>
            <a:ext cx="31718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D3340"/>
                </a:solidFill>
                <a:latin typeface="PingFang SC"/>
                <a:ea typeface="PingFang SC"/>
                <a:cs typeface="PingFang SC"/>
              </a:rPr>
              <a:t>UI/UX等交互设计师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BB0B3A-0B4E-494F-B3CB-A9F58DD2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19300"/>
            <a:ext cx="95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F5FCBF-2DAC-41E1-B450-9E8A79E6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19300"/>
            <a:ext cx="95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E199BF-9C3C-4008-8921-7EF861E5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436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从个人办公提效到企业组织提效，再到开发、创意和交互设计垂类场景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2580A1-663A-4B15-9CC6-5A78AC57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9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9D9A"/>
                </a:solidFill>
                <a:latin typeface="PingFang SC"/>
                <a:ea typeface="PingFang SC"/>
                <a:cs typeface="PingFang SC"/>
              </a:rPr>
              <a:t>WorkBuddy 产品家族全景图  |  3/5</a:t>
            </a:r>
          </a:p>
        </p:txBody>
      </p:sp>
    </p:spTree>
    <p:extLst>
      <p:ext uri="{BB962C8B-B14F-4D97-AF65-F5344CB8AC3E}">
        <p14:creationId xmlns:p14="http://schemas.microsoft.com/office/powerpoint/2010/main" val="14537380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1B0175-235E-4787-96F8-6937C96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6FFFD"/>
              </a:gs>
              <a:gs pos="55000">
                <a:srgbClr val="ECFEFA"/>
              </a:gs>
              <a:gs pos="100000">
                <a:srgbClr val="D7FAF4"/>
              </a:gs>
            </a:gsLst>
            <a:lin ang="1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C5171-0969-4230-B7D1-5C4E93B7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5191125"/>
            <a:ext cx="49530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9D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472DC-7AA3-4910-B2DF-7614499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047750"/>
            <a:ext cx="32385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EFE6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E5B07-6FF4-47E4-B177-3E9A71EE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76900"/>
            <a:ext cx="4191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4E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76263-919D-4183-B1E8-FAD5498C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77811-D17E-443B-A513-0B9DB587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DC6C5-8D8F-413D-A015-844CC44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016B1-5D52-4BEC-BFCA-7790159A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BE0B9-F71A-493B-A3F5-1352C2BA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ABA77-880F-4AFE-B0E9-BA4F0E48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B5E88-2EC4-46BF-B6FF-DEA3FE59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EF519-DC2E-49C9-8612-46F97B0F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1EB2A-0143-4F81-8462-F7A5F328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BB389-66F2-4853-ABEF-AF0B60B5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EFD84-08D1-4E98-8EAF-7E37112C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18C7D-60E6-4A3A-8C94-5A52AC10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552FB-2099-4521-8E71-EF40A69A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Buddy AI 共创生态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3A6A8-4667-4ED3-AC00-8E5FF643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81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B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2B488-92C8-4559-A79C-699E4743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81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8B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E8703-1F62-4163-A04F-B39223A1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1049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提升用户体验，加速 AI 普惠，让 AI 无处不在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DE8C3-D7BB-4CBC-B84F-5C234A0E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11430">
            <a:solidFill>
              <a:srgbClr val="B5E9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86171-3072-4B3A-9F68-3CD59AFE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CF8"/>
          </a:solidFill>
          <a:ln xmlns:a="http://schemas.openxmlformats.org/drawingml/2006/main" w="9525">
            <a:solidFill>
              <a:srgbClr val="B4EC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96325-DE63-4A0C-8883-27582A52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050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场景入口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71FB8-0B61-4190-8A61-9365DDCB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289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让 AI Agent 拥有更多真实世界交互入口与触点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8BCB8-F412-4A49-837E-836CB99B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11430">
            <a:solidFill>
              <a:srgbClr val="B5E9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876AB2-F163-47E2-9569-B466D9A7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CF8"/>
          </a:solidFill>
          <a:ln xmlns:a="http://schemas.openxmlformats.org/drawingml/2006/main" w="9525">
            <a:solidFill>
              <a:srgbClr val="B4EC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6CFD9-BB15-4EE9-A320-D0799DF8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050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能力协同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6F9242-4C54-4927-A8B5-04D20D8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289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让软件服务、专业知识和方法论成为可调能力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60C7F4-1F63-414A-A163-A9DFEBB6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>
              <a:alpha val="81569"/>
            </a:srgbClr>
          </a:solidFill>
          <a:ln xmlns:a="http://schemas.openxmlformats.org/drawingml/2006/main" w="11430">
            <a:solidFill>
              <a:srgbClr val="B5E9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214B7-FBE6-4902-ABF1-A0F2145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CF8"/>
          </a:solidFill>
          <a:ln xmlns:a="http://schemas.openxmlformats.org/drawingml/2006/main" w="9525">
            <a:solidFill>
              <a:srgbClr val="B4EC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8CBD41-A71F-4B07-8078-3F4F72BA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050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商业交付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F99253-E581-4B97-A0C6-2C24BD99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289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67A83"/>
                </a:solidFill>
                <a:latin typeface="PingFang SC"/>
                <a:ea typeface="PingFang SC"/>
                <a:cs typeface="PingFang SC"/>
              </a:rPr>
              <a:t>让获客解决方案可复用、可分发、可商业化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0D25F-AEFE-4E00-9FA6-542B0EA3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528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4547F1-9F7A-416E-8D88-A4F352C7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276475" y="39624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6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CD80F7-E1E9-43D3-99D8-9CE97B0C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85B02D-0785-48F3-B8C9-47F729CE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29325" y="39624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6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8461CB-4E3A-4955-A5A6-EFB63116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528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1E169D-FED0-4F40-86CB-B51449E1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782175" y="39624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6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1FADB5-726E-4EDC-AC8E-C5296D87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5905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E0D5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154AFC-BD92-43EB-82DB-A41DC9A4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00550"/>
            <a:ext cx="438150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FFB">
              <a:alpha val="90196"/>
            </a:srgbClr>
          </a:solidFill>
          <a:ln xmlns:a="http://schemas.openxmlformats.org/drawingml/2006/main" w="11430">
            <a:solidFill>
              <a:srgbClr val="A8EC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EFC198-C6AA-4998-BEF7-FBDEEF1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361950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C9F0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E5F972-4FDE-4ACC-B365-9958088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243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WorkBuddy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13FA4B-AA7B-4876-98D4-87DC91AD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2917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AI 能力与智能体底座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3E64E8-9568-4800-93FB-F2410A7F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19800"/>
            <a:ext cx="8572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9525">
            <a:solidFill>
              <a:srgbClr val="A5E4D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BC91FF-A765-4ED8-8DF7-31B025F7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198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全面开放 WorkBuddy 产品能力，首批加入共创生态伙伴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E8F39D-A245-4793-890C-AF09CD0D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96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9D9A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7B9D9A"/>
                </a:solidFill>
                <a:latin typeface="PingFang SC"/>
                <a:ea typeface="PingFang SC"/>
                <a:cs typeface="PingFang SC"/>
              </a:rPr>
              <a:t>WorkBuddy 产品家族全景图  |  4/5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48a14fe9e4f72">
            <a:extLst>
              <a:ext uri="{96DAC541-7B7A-43D3-8B79-37D633B846F1}">
                <asvg:svgBlip xmlns:asvg="http://schemas.microsoft.com/office/drawing/2016/SVG/main" r:embed="R4d2bc0e38e7c43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08354" y="2489454"/>
            <a:ext cx="316992" cy="316992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3934a993f4b2e">
            <a:extLst>
              <a:ext uri="{96DAC541-7B7A-43D3-8B79-37D633B846F1}">
                <asvg:svgBlip xmlns:asvg="http://schemas.microsoft.com/office/drawing/2016/SVG/main" r:embed="R8ef724f7732149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42154" y="2489454"/>
            <a:ext cx="316992" cy="316992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0075dc7914336">
            <a:extLst>
              <a:ext uri="{96DAC541-7B7A-43D3-8B79-37D633B846F1}">
                <asvg:svgBlip xmlns:asvg="http://schemas.microsoft.com/office/drawing/2016/SVG/main" r:embed="R3df5948f770a4e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75954" y="2489454"/>
            <a:ext cx="316992" cy="3169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20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B9E92E-ED7E-4369-BC9D-F18469BA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6FFFD"/>
              </a:gs>
              <a:gs pos="55000">
                <a:srgbClr val="ECFEFA"/>
              </a:gs>
              <a:gs pos="100000">
                <a:srgbClr val="D7FAF4"/>
              </a:gs>
            </a:gsLst>
            <a:lin ang="12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DE592-A77B-46B7-A8E4-DDBE6F8A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5191125"/>
            <a:ext cx="495300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E9D9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D9899-4275-489F-B1F5-29BAA217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1047750"/>
            <a:ext cx="32385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EFE6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72B08-7F55-4071-BA2B-1D61B94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76900"/>
            <a:ext cx="4191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4E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E8C57-FB1F-49BE-8743-842CD00F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9702B-5D51-4F4B-BDC2-2FD1ADB6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0975C-C65E-4E4E-8BF2-07690027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9F560-5966-4F33-B3B3-6C603351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26696-8747-427C-AC60-B8E1AF40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C91F0-C23E-47C5-BF2C-4C400BB1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91A3D-E602-4334-A7A6-163202F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ECC65-0F87-4B95-91E5-02210382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5054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5F74D-A47F-4C53-88A8-798BE50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CEDA0-03BE-4D1B-85BB-ADB571E9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4E6CD-0C04-4FCC-8195-57DC50AE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D3034-F6B3-4BCC-8561-F585E9A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6769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BD2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8B338-F276-4B54-86F4-E81A814D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WorkBuddy 共创生态伙伴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1DEA0-8517-484B-A35E-E66B05C0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906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全面开放 WorkBuddy 产品能力，首批加入共创生态伙伴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A0CFB-36F1-40A7-A8D0-FEE8B82B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3632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A7E7D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448a065624f6a"/>
          <a:stretch xmlns:a="http://schemas.openxmlformats.org/drawingml/2006/main"/>
        </p:blipFill>
        <p:spPr>
          <a:xfrm xmlns:a="http://schemas.openxmlformats.org/drawingml/2006/main">
            <a:off x="1984818" y="1619250"/>
            <a:ext cx="8241414" cy="20764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411AE-8ABB-408B-84FD-5109E866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93345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E0D5">
              <a:alpha val="3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C9C36-41D2-4679-8177-21263A37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24384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11430">
            <a:solidFill>
              <a:srgbClr val="B6ED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9CBF2-448D-4A47-BAFD-A5EB9AF9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67200"/>
            <a:ext cx="24384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11430">
            <a:solidFill>
              <a:srgbClr val="B6ED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2d30c54ac44b2"/>
          <a:stretch xmlns:a="http://schemas.openxmlformats.org/drawingml/2006/main"/>
        </p:blipFill>
        <p:spPr>
          <a:xfrm xmlns:a="http://schemas.openxmlformats.org/drawingml/2006/main">
            <a:off x="3009900" y="4438650"/>
            <a:ext cx="1333500" cy="13335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fbf985ebe42a5"/>
          <a:stretch xmlns:a="http://schemas.openxmlformats.org/drawingml/2006/main"/>
        </p:blipFill>
        <p:spPr>
          <a:xfrm xmlns:a="http://schemas.openxmlformats.org/drawingml/2006/main">
            <a:off x="7962900" y="44386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DA16BD-7EB6-4C89-9329-7B5E7CEB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10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扫码关注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EAC75-353C-43B3-814E-E1F31298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769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WorkBuddy 公众号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A133BD-112B-4E82-BA9A-6BDCC7D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扫码体验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4141F3-9B8C-40C5-8FE1-2B4E03A9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0769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8D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8D85"/>
                </a:solidFill>
                <a:latin typeface="PingFang SC"/>
                <a:ea typeface="PingFang SC"/>
                <a:cs typeface="PingFang SC"/>
              </a:rPr>
              <a:t>WorkBuddy 小程序</a:t>
            </a:r>
          </a:p>
        </p:txBody>
      </p:sp>
    </p:spTree>
    <p:extLst>
      <p:ext uri="{BB962C8B-B14F-4D97-AF65-F5344CB8AC3E}">
        <p14:creationId xmlns:p14="http://schemas.microsoft.com/office/powerpoint/2010/main" val="404717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2026-06-07T08:52:08.8320000Z</dcterms:created>
  <dcterms:modified xsi:type="dcterms:W3CDTF">2026-06-07T08:52:08.8320000Z</dcterms:modified>
</coreProperties>
</file>